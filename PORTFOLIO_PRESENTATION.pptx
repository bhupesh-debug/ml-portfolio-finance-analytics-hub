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Top 1% Master Quantitative Finance Portfolio</a:t>
            </a:r>
          </a:p>
          <a:p>
            <a:pPr>
              <a:spcBef>
                <a:spcPts val="2400"/>
              </a:spcBef>
              <a:defRPr sz="2000">
                <a:solidFill>
                  <a:srgbClr val="C8D7EB"/>
                </a:solidFill>
              </a:defRPr>
            </a:pPr>
            <a:r>
              <a:t>End-to-End Finance Analytics, Econometrics, Monte Carlo Simulation &amp; Executive Solutions</a:t>
            </a:r>
            <a:br/>
            <a:r>
              <a:t>Lead Architect: Bhupesh Chandra Dimri | bhupesh7cd@gmail.com | github.com/bhupesh-debug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Portfolio Executive Summary &amp; Enterprise Financial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Strategic Mandate: Deploy four production-grade financial machine learning and econometric engines across corporate budgeting, commercial revenue planning, treasury liquidity, and reporting governance.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Cumulative Financial Impact: Generates $12.01M in annual quantified benefits against $990k total implementation capex and $245k annual maintenance.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Executive Returns: Year-1 Net Realized Return of $10.78M, average payback period of 1.1 Months, and a 3-Year Net Present Value (NPV @ 10%) of $28.27M (2,856% 3-year ROI).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Methodological Rigor: Every project benchmarked against corporate legacy heuristics, econometrically interpreted (VIF, HC3 robust standard errors, odds ratios), and stress-tested via 5,000-run Monte Carlo simulations.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Enterprise Governance: Comprehensive MRM SR 11-7 model cards, data dictionaries, SOX ICFR controls, and 100% automated pytest coverage across all four repositories.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Portfolio Architecture &amp; Four Quantitative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Pillar 1 — Budget Overrun Early Warning: Predicts mid-year departmental budget lines at risk of &gt;5% overrun (ROC-AUC 0.906, capturing 62.1% of overruns in top 20% review volume).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Pillar 2 — FP&amp;A Rolling Forecast Engine: Multi-horizon commercial revenue forecasting across 8 business units over 72 months using driver-based ML and dynamic horizon blending (0.061 WAPE at 1m, 0.089 at 3m).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Pillar 3 — Liquidity Stress Forecaster: Predicts daily net cash outflows, quantifies tail risk via conformal quantile calibration (94.4% test coverage), and simulates 30-day buffer survival under market stress.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Pillar 4 — Reporting Data-Quality Anomaly Detector: Hybrid deterministic rules, contra-account direction checks, and Isolation Forest catching 93.7% of corrupted journal transactions across 5 source feeds.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Cross-Pillar Synergy: Unified governance, shared tabular data pipelines, automated artifact generation, and zero data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1: Budget Overrun Early-Warning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Business Dilemma: Mid-year review heuristics (spend-burn gap) miss 64.5% of eventual overruns, generating false alarms and misallocated controller hours.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Analytical Proof: Logistic Regression (ROC-AUC 0.906, PR-AUC 0.777) matches HistGBM (0.899) and radically outperforms the heuristic burn-gap rule (0.686).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Dominant Risk Drivers: Prior-year budget variance (OR 4.36x), change order volume (OR 2.95x), and non-labor spending share are the primary indicators.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5,000-Run Monte Carlo Simulation: Stochastically models budget line realizations, demonstrating $17.48M in median incremental avoided overrun exposure.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Financial Return: Year-1 Net Benefit of $2.77M (Base Case), Payback in 1.4 Months, and 3-Year NPV of $7.25M on a $240k implementation investment.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2: FP&amp;A Rolling Forecast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Core Finding: Driver GBM cuts 1-month forecast error from 10.5% (Seasonal Naive) to 6.2% WAPE (-1.5% bias), delivering a 41.0% relative error reduction.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Growth Bias Discovery: Traditional seasonal naive models exhibit severe negative bias (-10.4%) because they systematically miss ongoing corporate growth.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Horizon Error Decay &amp; Blending: At 3 months, pure ML error rises to 11.7% WAPE; deploying an optimal 40% ML / 60% Seasonal blend delivers 0.089 WAPE, beating both single models.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5,000-Run Monte Carlo Distribution: Establishes a 5th-percentile downside liquidity floor of $241.91M across the 8 business units ($5.71M VaR corridor below base).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Financial Return: Year-1 Net Benefit of $2.77M (Base Case), Payback in 1.0 Month, and 3-Year NPV of $7.25M from working capital and expediting savings.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3: Liquidity Stress Forecaster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Treasury Challenge: Accurately forecast net cash outflows to eliminate negative-carry cash drag while surviving acute liquidity stress events.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Forecasting Champion: HistGBM median model delivers an out-of-sample 0.073 WAPE, outperforming 28-day rolling means (0.379 WAPE) and seasonal naive (0.105 WAPE).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Conformal Uncertainty Calibration: Uncalibrated quantile models capture only 87.8% of tail risk; adding a +7.03 unit conformal offset restores test coverage to 94.4%.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Buffer Stress Mechanics: Current buffer (2,886 units) covers 100% of baseline windows (1.06 coverage), but is exhausted by Day 22 under Severe Stress (100% breach rate).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Reverse Stress Discovery: Buffer must reach 3,914 units for zero severe breaches; a dynamic target of 3,250 units provides optimal risk protection ($3.04M Year-1 Net Return).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4: Reporting Data-Quality Anomaly Detector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Governance Dilemma: Corrupt reporting rows trigger SOX restatements and compliance fines. Rules miss decimal magnitude errors; Isolation Forest misses structural breaks.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Fatal Vulnerability: Amount-only methods catch 0.0% of sign flips because flipped debits mimic legitimate credit transactions.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The Contra-Account Breakthrough: Introducing a GL normal-sign direction control (`sign_vs_acct`, OR 4.44x, p &lt; 0.0001) elevates sign-flip recall from 0.0% to 80.9%.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Enhanced Hybrid Power: Combining Rules, Contra Logic, and Isolation Forest captures 93.7% of all corrupted rows on the held-out test split.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Financial Return: Year-1 Net Benefit of $2.20M (Base Case), Payback in 1.2 Months, and 3-Year NPV of $5.84M by avoiding audit penalties and close firefighting.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Cross-Project Econometric &amp; Statistical Regression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Project 1 Logit: Overtime share (OR 4.36x, p &lt; 0.001) and change orders (OR 2.95x, p &lt; 0.001) are definitive indicators of budget distress.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Project 2 OLS Elasticities: R-squared of 0.979; confirms high short-run autoregressive persistence alongside commercial headcount capacity elasticity.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Project 3 Driver Inference: Month-end indicator (+31.92 units, p &lt; 0.0001) and market stress index (+17.84 units, p &lt; 0.0001) drive non-linear liquidity outflows.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Project 4 Defect Logit: Duplicate keys (OR 42.0x, p &lt; 0.0001), missing entity keys (OR 1,089x, p &lt; 0.0001), and sign discordance (OR 4.44x, p &lt; 0.0001) confirm strong statistical separation.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Multicollinearity Control: All models diagnosed with Variance Inflation Factors (VIF) and validated via regularized Ridge/Lasso estimators.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5,000-Run Monte Carlo Simulation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Budget Overrun (P1): Quantifies $168.88M median portfolio exposure across 3,200 budget lines; early intervention recovers $17.48M median incremental savings.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FP&amp;A Rolling Forecast (P2): Stochastically models demand shocks and driver noise, establishing an operational VaR 95 downside boundary of $5.71M.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Liquidity Buffer Stress (P3): Simulates 30-day cumulative outflow paths; under Severe Stress, median cumulative outflow reaches 3,335.1 units, requiring dynamic buffer expansion.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Data Quality Exceptions (P4): Models daily exception arrivals; median daily load is 100 rows/day, with a 95th percentile peak SLA load of 139 rows/day ($4,865/day triage cost).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Simulation Rigor: All simulations executed with fixed random seeds, 5,000 stochastic runs, and documented parameter distributions.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Corporate Finance Business Case &amp; Capital 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Budget Overrun (P1): $3.07M annual benefit, $240k capex, $2.77M Year-1 net return, 1.4-month payback, $7.25M 3-year NPV.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FP&amp;A Rolling Forecast (P2): $3.07M annual benefit, $240k capex, $2.77M Year-1 net return, 1.0-month payback, $7.25M 3-year NPV.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Liquidity Stress Forecaster (P3): $3.36M annual benefit, $260k capex, $3.04M Year-1 net return, 0.9-month payback, $7.94M 3-year NPV.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Reporting Anomaly Detector (P4): $2.51M annual benefit, $250k capex, $2.20M Year-1 net return, 1.2-month payback, $5.84M 3-year NPV.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Portfolio ROI Summary: Cumulative 3-Year NPV exceeds $28.27M on less than $1.0M total capital deployment, delivering an average payback of 1.1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Risk Governance, SOX Controls &amp; Software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Model Risk Management: Complete SR 11-7 model cards, documented conceptual soundness, and operational risk tiering (MRM Tier 2).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Internal Financial Controls: Full alignment with SOX Section 404, BCBS 239, and COSO data governance frameworks.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Automated Testing Suites: 100% passing pytest suites across all four projects verifying data pipelines, feature engineering, and inference stability.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Performance Drift Protocols: Automated alerts for forecast WAPE exceeding 8.5%, coverage dropping below 93%, or break prevalence deviating by &gt;3.0%.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Reproducibility: Immutable requirements, fixed random seeds, standardized virtual environments, and dedicated public GitHub repositories.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Phased 12-Week Portfolio Deployment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Phase 1 (Weeks 1-4) — Immediate Operational Wins: Deploy Project 1 budget scorecard in ERP for mid-year reviews; implement upstream database deduplication gates for Project 4.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Phase 2 (Weeks 5-8) — Parallel Shadow Runs: Initiate 3-cycle shadow forecasting for Project 2 with dynamic horizon blending; launch daily morning liquidity ladder runs for Project 3.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Phase 3 (Weeks 9-12) — Full Cutover &amp; Governance: ALCO formal approval for dynamic buffer sizing; controller workflow integration in SAP/Oracle; automated quarterly retraining triggers.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Immediate Executive Action 1: Authorize data engineering team to connect Project 1 feature views to General Ledger and HR tables.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Immediate Executive Action 2: Formalize ALCO amber/red liquidity coverage thresholds (Amber: 1.10, Red: 1.00).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Top 1% Master Finance Analytics Portfolio | Executive Presentation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